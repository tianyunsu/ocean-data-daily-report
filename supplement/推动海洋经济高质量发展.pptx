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A4A7A">
              <a:alpha val="4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4A7A">
              <a:alpha val="7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097280" cy="4114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AD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《求是》2026年第6期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</a:t>
            </a:r>
            <a:endParaRPr lang="en-US" sz="4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高质量发展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习近平总书记重要文章  </a:t>
            </a:r>
            <a:pPr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中共自然资源部党组署名文章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1F6BAE">
              <a:alpha val="20000"/>
            </a:srgbClr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188720"/>
            <a:ext cx="1097280" cy="1097280"/>
          </a:xfrm>
          <a:prstGeom prst="ellipse">
            <a:avLst/>
          </a:prstGeom>
          <a:solidFill>
            <a:srgbClr val="3AADCF">
              <a:alpha val="30000"/>
            </a:srgbClr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C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来源：新华社  |  自然资源部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57200" cy="1078992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战略高度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15179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海洋是国家发展的重要支撑与战略空间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457200" cy="10789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53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13248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历史成就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13248" y="15179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新时代海洋经济发展的历史性突破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67712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267712"/>
            <a:ext cx="457200" cy="1078992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151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8408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形势挑战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8408" y="27797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国际竞争加剧与国内短板分析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67712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67712"/>
            <a:ext cx="457200" cy="10789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151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13248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五大思路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13248" y="27797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创新·协同·产业·生态·合作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529584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529584"/>
            <a:ext cx="457200" cy="1078992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770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" y="3639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六项重点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8408" y="40416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顶层设计到深度参与全球治理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4160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29584"/>
            <a:ext cx="457200" cy="107899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770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13248" y="3639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重要意义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13248" y="40416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向海图强，建设海洋强国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4A7A">
              <a:alpha val="5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F6BAE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战略高度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海洋是支撑未来发展的资源宝库和战略空间，是高质量发展战略要地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海洋强国战略背景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9601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64008" cy="96012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8696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推进中国式现代化，必须高效开发利用海洋，推动海洋经济高质量发展，走出一条具有中国特色的向海图强之路。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267004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993392"/>
            <a:ext cx="2670048" cy="347472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历史传承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3957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中华民族是最早利用海洋的民族之一。唐宋"海上丝绸之路"盛极一时，郑和七下西洋完成世界航海史上的壮举。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993392"/>
            <a:ext cx="267004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993392"/>
            <a:ext cx="2670048" cy="347472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9933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新时代部署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423160"/>
            <a:ext cx="23957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习近平总书记把海洋事业摆在党和国家发展全局重要位置，强调让海洋经济成为新的经济增长点。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44184" y="1993392"/>
            <a:ext cx="267004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44184" y="1993392"/>
            <a:ext cx="2670048" cy="347472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9933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1344" y="2423160"/>
            <a:ext cx="23957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海洋是国家发展和综合实力的重要支撑，也是维护国家安全、参与全球治理的重要领域。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4A7A">
              <a:alpha val="5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F6BAE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历史成就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"十四五"期间海洋生产总值连续迈上9、10、11万亿元三个台阶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海洋经济核心数据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920240" cy="73152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11万亿+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海洋生产总值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占GDP约8%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8686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868680"/>
            <a:ext cx="1920240" cy="73152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87752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占国内生产总值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7752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"十四五"时期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81144" y="8686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144" y="868680"/>
            <a:ext cx="1920240" cy="73152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72584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新增海洋原油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占全国增量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65976" y="8686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65976" y="868680"/>
            <a:ext cx="1920240" cy="73152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7416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B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57416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海洋药物品类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57416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约占全球份额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633472"/>
            <a:ext cx="54864" cy="347472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633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四大领域世界领先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11480" y="301752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017520"/>
            <a:ext cx="1920240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0175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船舶与海工装备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338328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产业规模全球第一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96312" y="301752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96312" y="3017520"/>
            <a:ext cx="1920240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30175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海上风电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9464" y="338328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产业规模全球第一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81144" y="301752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81144" y="3017520"/>
            <a:ext cx="1920240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30175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海洋渔业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54296" y="338328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产业规模全球第一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65976" y="3017520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65976" y="3017520"/>
            <a:ext cx="1920240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9128" y="30175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海水淡化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39128" y="338328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工程规模近300万吨/日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科技创新与生态保护成就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4023360" cy="347472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海洋科技创新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31673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618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"梦想"号 ── 全球最大大洋钻探船建成入列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86537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105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"深海一号" ── 全球首座10万吨海上石油平台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591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"蛟龙"号+"奋斗者"号 ── 完成首次北极载人深潜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96265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077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海洋能装备技术进入世界第一方阵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51129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564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崂山、汉江实验室全面运行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822960"/>
            <a:ext cx="4023360" cy="3474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🌊 生态保护与国际合作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64608" y="131673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2618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大陆自然岸线保有率稳定在35%以上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186537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8105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实施82个海洋生态保护修复工程项目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241401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3591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"妈祖"系列预警报模型达国际先进水平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64608" y="296265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9077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与50多个国家和国际组织签署合作协议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64608" y="3511296"/>
            <a:ext cx="128016" cy="128016"/>
          </a:xfrm>
          <a:prstGeom prst="ellipse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4564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成为《BBNJ协定》首批签署国和缔约国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4A7A">
              <a:alpha val="5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F6BAE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形势与挑战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全球海洋竞争加剧，我国海洋经济发展面临复杂深刻变化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外部挑战与内部短板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54864" cy="347472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外部挑战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54864" cy="1325880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国际竞争激烈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沿海国家竞相出台蓝色经济战略，全球海洋治理体系加速重构，少数国家凭借技术优势主导规则制定。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605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54864" cy="1325880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海上安全压力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6642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大国博弈、地缘冲突加剧，少数国家试图"以海制华"，设置技术壁垒，压缩我国海洋发展空间。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54864" cy="347472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15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三大内部短板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1480" y="3127248"/>
            <a:ext cx="26700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27248"/>
            <a:ext cx="2670048" cy="54864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2552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科技成果供给偏弱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611880"/>
            <a:ext cx="24505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高端仪器依赖进口，核心技术自给率低，成果转化率不高。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127248"/>
            <a:ext cx="26700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127248"/>
            <a:ext cx="2670048" cy="54864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2552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产业核心竞争力不强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611880"/>
            <a:ext cx="24505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传统产业大而不强，新兴产业规模尚小，缺乏国际竞争力的龙头企业。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127248"/>
            <a:ext cx="26700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3127248"/>
            <a:ext cx="2670048" cy="54864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3255264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经济治理手段不足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3611880"/>
            <a:ext cx="24505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资源开发方式粗放，海洋金融产品单一，协同治理能力有待加强。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4A7A">
              <a:alpha val="5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F6BAE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五大发展思路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AD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创新驱动·高效协同·产业更新·人海和谐·合作共赢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五大发展思路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475488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896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更加注重创新驱动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尽快突破关键核心技术，推动海洋科技实现高水平自立自强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618488"/>
            <a:ext cx="8321040" cy="658368"/>
          </a:xfrm>
          <a:prstGeom prst="rect">
            <a:avLst/>
          </a:prstGeom>
          <a:solidFill>
            <a:srgbClr val="EEF4FB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09928"/>
            <a:ext cx="475488" cy="47548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691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更加注重高效协同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965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坚持陆海统筹、山海联动，增强协同发展合力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8321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505456"/>
            <a:ext cx="475488" cy="475488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487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更加注重产业更新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614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推动传统产业转型升级，大力发展海洋新兴产业，培育未来产业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209544"/>
            <a:ext cx="8321040" cy="658368"/>
          </a:xfrm>
          <a:prstGeom prst="rect">
            <a:avLst/>
          </a:prstGeom>
          <a:solidFill>
            <a:srgbClr val="EEF4FB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00984"/>
            <a:ext cx="475488" cy="47548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2826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更加注重人海和谐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5570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统筹海洋资源开发和保护，建设可持续的海洋生态环境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005072"/>
            <a:ext cx="83210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096512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078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更加注重合作共赢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3525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主动参与全球海洋治理，坚决维护我国领土主权和海洋权益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4A7A">
              <a:alpha val="5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F6BAE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六项重点任务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从顶层设计到全球治理，系统部署海洋经济高质量发展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六项重点任务（一）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267004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2670048" cy="457200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加强顶层设计和政策支持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" y="1463040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41732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编制"十五五"海洋经济发展规划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2121408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756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加大产业、科技、财税、金融政策支持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2779776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73405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鼓励引导社会资本积极参与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67004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22960"/>
            <a:ext cx="2670048" cy="457200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822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提高海洋科技自主创新能力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10712" y="1463040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141732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强化海洋战略科技力量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0712" y="2121408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0756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培育海洋科技领军企业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0712" y="2779776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73405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培育涉海专精特新中小企业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822960"/>
            <a:ext cx="267004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822960"/>
            <a:ext cx="2670048" cy="457200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822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做强做优做大海洋产业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45352" y="1463040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41732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推动海上风电规范有序建设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45352" y="2121408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0756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发展海洋生物医药和生物制品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45352" y="2779776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73405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加强"数字海洋"建设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45352" y="3438144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92424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推动海运业高质量发展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六项重点任务（二）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267004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2670048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加强主要海湾整体规划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" y="1463040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41732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有序推进沿海港口群优化整合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2121408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756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支持重点港口绿色化转型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2779776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73405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支持重点港口数智化转型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67004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22960"/>
            <a:ext cx="2670048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822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加强海洋生态环境保护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10712" y="1463040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141732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加强海洋环境风险源头防范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0712" y="2121408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0756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接续实施重点海域综合治理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0712" y="2779776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73405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探索开展海洋碳汇核算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822960"/>
            <a:ext cx="267004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822960"/>
            <a:ext cx="2670048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822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822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深度参与全球海洋治理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45352" y="1463040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41732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加强全球海洋科研调查合作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45352" y="2121408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07568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推进防灾减灾国际合作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45352" y="2779776"/>
            <a:ext cx="109728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73405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推进"一带一路"国际港口联盟建设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4A7A">
              <a:alpha val="5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F6BAE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重要意义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向海图强，建设海洋强国，推动中国式现代化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推动海洋经济高质量发展的战略意义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70048" cy="21945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拓展发展空间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推动经济社会高质量发展，增强国家综合实力与战略纵深。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70048" cy="21945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4173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维护国家权益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维护国家主权、安全、发展利益，捍卫领土主权和海洋权益。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70048" cy="2194560"/>
          </a:xfrm>
          <a:prstGeom prst="rect">
            <a:avLst/>
          </a:prstGeom>
          <a:solidFill>
            <a:srgbClr val="1F6BAE"/>
          </a:solidFill>
          <a:ln w="12700">
            <a:solidFill>
              <a:srgbClr val="1F6BA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D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人海和谐发展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统筹海洋资源开发与保护，推动构建海洋命运共同体。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46120"/>
            <a:ext cx="8321040" cy="100584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46120"/>
            <a:ext cx="64008" cy="100584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918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"十五五"时期是我国由海洋大国向海洋强国迈进的关键时期，必须增强忧患意识、底线思维，把海洋事业发展的战略主动权牢牢握在自己手里。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A4E"/>
          </a:solidFill>
          <a:ln w="12700">
            <a:solidFill>
              <a:srgbClr val="0D2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推动海洋经济高质量发展  ·  《求是》2026年第6期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9011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A4A7A">
              <a:alpha val="3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97280"/>
            <a:ext cx="2743200" cy="2743200"/>
          </a:xfrm>
          <a:prstGeom prst="ellipse">
            <a:avLst/>
          </a:prstGeom>
          <a:solidFill>
            <a:srgbClr val="1F6BAE">
              <a:alpha val="25000"/>
            </a:srgbClr>
          </a:solidFill>
          <a:ln w="12700">
            <a:solidFill>
              <a:srgbClr val="1F6B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向海图强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AAD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建设海洋强国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286000" cy="36576"/>
          </a:xfrm>
          <a:prstGeom prst="rect">
            <a:avLst/>
          </a:prstGeom>
          <a:solidFill>
            <a:srgbClr val="3AADCF"/>
          </a:solidFill>
          <a:ln w="12700">
            <a:solidFill>
              <a:srgbClr val="3AA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来源：《求是》杂志2026年第6期
</a:t>
            </a:r>
            <a:pPr indent="0" marL="0">
              <a:buNone/>
            </a:pPr>
            <a:r>
              <a:rPr lang="en-US" sz="1100" dirty="0">
                <a:solidFill>
                  <a:srgbClr val="7AAF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习近平总书记重要文章  ·  中共自然资源部党组署名文章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推动海洋经济高质量发展</dc:title>
  <dc:subject>PptxGenJS Presentation</dc:subject>
  <dc:creator>PptxGenJS</dc:creator>
  <cp:lastModifiedBy>PptxGenJS</cp:lastModifiedBy>
  <cp:revision>1</cp:revision>
  <dcterms:created xsi:type="dcterms:W3CDTF">2026-03-16T09:37:03Z</dcterms:created>
  <dcterms:modified xsi:type="dcterms:W3CDTF">2026-03-16T09:37:03Z</dcterms:modified>
</cp:coreProperties>
</file>